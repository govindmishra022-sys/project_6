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ROSSMANN STORE SALES FORECASTING ENGINE</a:t>
            </a:r>
          </a:p>
          <a:p>
            <a:pPr>
              <a:spcAft>
                <a:spcPts val="1600"/>
              </a:spcAft>
              <a:defRPr sz="1800">
                <a:solidFill>
                  <a:srgbClr val="17A2B8"/>
                </a:solidFill>
                <a:latin typeface="Calibri"/>
              </a:defRPr>
            </a:pPr>
            <a:r>
              <a:t>Executive Technical Evaluation, Deep Learning (2-Layer LSTM) &amp; Live Web Deployment</a:t>
            </a:r>
          </a:p>
          <a:p>
            <a:pPr>
              <a:spcAft>
                <a:spcPts val="16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t>🌐 LIVE PRODUCTION DEPLOYMENT LINK: http://localhost:8501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Synthesized Assessment Across Notebooks 1, 2, 3, &amp; 4  |  Target Metric: RMSPE (%)  |  Scope: 1,115 Stores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Executive KPI Scoreboard &amp; Model Trajectory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🏆 Performance Benchmark Trajectory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Baseline (Notebook 1): </a:t>
            </a:r>
            <a:r>
              <a:rPr b="0">
                <a:solidFill>
                  <a:srgbClr val="2C3E50"/>
                </a:solidFill>
              </a:rPr>
              <a:t>42.51% RMSPE ($2,895.40 RMSE) - Naive Historical Mean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Ridge Linear (Notebook 2): </a:t>
            </a:r>
            <a:r>
              <a:rPr b="0">
                <a:solidFill>
                  <a:srgbClr val="2C3E50"/>
                </a:solidFill>
              </a:rPr>
              <a:t>31.20% RMSPE ($2,150.80 RMSE) - Log-Transformed Linear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Random Forest (Notebook 3): </a:t>
            </a:r>
            <a:r>
              <a:rPr b="0">
                <a:solidFill>
                  <a:srgbClr val="2C3E50"/>
                </a:solidFill>
              </a:rPr>
              <a:t>13.75% RMSPE ($985.30 RMSE) - Baseline 100 Trees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Tuned XGBoost (Notebook 4): </a:t>
            </a:r>
            <a:r>
              <a:rPr b="1">
                <a:solidFill>
                  <a:srgbClr val="2C3E50"/>
                </a:solidFill>
              </a:rPr>
              <a:t>11.29% RMSPE ($792.40 RMSE) - 500 Decision Trees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Champion DL (Notebook 4): </a:t>
            </a:r>
            <a:r>
              <a:rPr b="1">
                <a:solidFill>
                  <a:srgbClr val="2C3E50"/>
                </a:solidFill>
              </a:rPr>
              <a:t>9.84% RMSPE ($645.10 RMSE, 0.9570 R²) - 2-Layer LSTM + XGB Ensemble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Live Web App Link: </a:t>
            </a:r>
            <a:r>
              <a:rPr b="1">
                <a:solidFill>
                  <a:srgbClr val="2C3E50"/>
                </a:solidFill>
              </a:rPr>
              <a:t>http://localhost:8501 (Sub-50ms Serving)</a:t>
            </a:r>
          </a:p>
        </p:txBody>
      </p:sp>
      <p:pic>
        <p:nvPicPr>
          <p:cNvPr id="4" name="Picture 3" descr="notebook_3_ml_cel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067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Dashboard UI Overview &amp; Interface Controls (Streamlit Web App app.py)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🖥️ Dashboard UI Controls &amp; Deployment Link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LIVE DEPLOYMENT URL: </a:t>
            </a:r>
            <a:r>
              <a:rPr b="1">
                <a:solidFill>
                  <a:srgbClr val="2C3E50"/>
                </a:solidFill>
              </a:rPr>
              <a:t>http://localhost:8501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Sidebar Navigation: </a:t>
            </a:r>
            <a:r>
              <a:rPr b="1">
                <a:solidFill>
                  <a:srgbClr val="2C3E50"/>
                </a:solidFill>
              </a:rPr>
              <a:t>Select store (Stores 1 to 1,115), forecast date, and promo status (0/1).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Model Selector Dropdown: </a:t>
            </a:r>
            <a:r>
              <a:rPr b="1">
                <a:solidFill>
                  <a:srgbClr val="2C3E50"/>
                </a:solidFill>
              </a:rPr>
              <a:t>Switch between Champion Ensemble, Tuned XGBoost, PyTorch LSTM, and Baseline.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Serving Latency: </a:t>
            </a:r>
            <a:r>
              <a:rPr b="1">
                <a:solidFill>
                  <a:srgbClr val="2C3E50"/>
                </a:solidFill>
              </a:rPr>
              <a:t>Sub-50ms inference serving via model_artifacts\11-09-2026-21-46-42-00.pkl.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Interactive Theme Switcher: </a:t>
            </a:r>
            <a:r>
              <a:rPr b="0">
                <a:solidFill>
                  <a:srgbClr val="2C3E50"/>
                </a:solidFill>
              </a:rPr>
              <a:t>Toggle between Dark Mode (high-contrast default UI) and Light Mode.</a:t>
            </a:r>
          </a:p>
        </p:txBody>
      </p:sp>
      <p:pic>
        <p:nvPicPr>
          <p:cNvPr id="4" name="Picture 3" descr="dashboard_u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617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Dashboard Structural Modules (Strict Sequential Order Module A -&gt; B -&gt; C -&gt; 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🧩 Sequential Dashboard Architecture (Module A -&gt; B -&gt; C -&gt; D)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Module A (Exploratory Data Analysis - EDA): </a:t>
            </a:r>
            <a:r>
              <a:rPr b="1">
                <a:solidFill>
                  <a:srgbClr val="2C3E50"/>
                </a:solidFill>
              </a:rPr>
              <a:t>Data distribution plots, correlation heatmaps, missing value audits, promo &amp; holiday impact graphs.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Module B (Model Architecture Specs): </a:t>
            </a:r>
            <a:r>
              <a:rPr b="1">
                <a:solidFill>
                  <a:srgbClr val="2C3E50"/>
                </a:solidFill>
              </a:rPr>
              <a:t>Architecture deep dives, hyperparameter configs, validation benchmarks across RF, XGBoost, &amp; PyTorch LSTM.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Module C (Store Manager Forecast Center): </a:t>
            </a:r>
            <a:r>
              <a:rPr b="1">
                <a:solidFill>
                  <a:srgbClr val="2C3E50"/>
                </a:solidFill>
              </a:rPr>
              <a:t>Live sub-50ms inference engine, single store manual parameter entry, batch CSV forecasting.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8E44AD"/>
                </a:solidFill>
              </a:rPr>
              <a:t>• Module D (Analytics &amp; Prediction Exporter): </a:t>
            </a:r>
            <a:r>
              <a:rPr b="1">
                <a:solidFill>
                  <a:srgbClr val="2C3E50"/>
                </a:solidFill>
              </a:rPr>
              <a:t>Interactive Plotly time series forecast trends, filterable output data table, CSV download export.</a:t>
            </a:r>
          </a:p>
        </p:txBody>
      </p:sp>
      <p:pic>
        <p:nvPicPr>
          <p:cNvPr id="4" name="Picture 3" descr="dashboard_modul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617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Step-by-Step Predictive Mechanics: How the Model Forecasts Sales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⚡ End-to-End Model Prediction Pipeline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Step 1 (Input Isolation): </a:t>
            </a:r>
            <a:r>
              <a:rPr b="0">
                <a:solidFill>
                  <a:srgbClr val="2C3E50"/>
                </a:solidFill>
              </a:rPr>
              <a:t>User inputs Store ID, Date, Promo status, and Holiday metadata.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Step 2 (Target Encodings): </a:t>
            </a:r>
            <a:r>
              <a:rPr b="1">
                <a:solidFill>
                  <a:srgbClr val="2C3E50"/>
                </a:solidFill>
              </a:rPr>
              <a:t>Applies leakage-free target encodings (Store_DoW_LogSales_Mean, Store_Promo_LogSales_Mean).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Step 3 (Log Transformation): </a:t>
            </a:r>
            <a:r>
              <a:rPr b="0">
                <a:solidFill>
                  <a:srgbClr val="2C3E50"/>
                </a:solidFill>
              </a:rPr>
              <a:t>Transforms target variable Y_log = ln(1 + Y) to linearize exponential variance.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Step 4 (Model Inference): </a:t>
            </a:r>
            <a:r>
              <a:rPr b="1">
                <a:solidFill>
                  <a:srgbClr val="2C3E50"/>
                </a:solidFill>
              </a:rPr>
              <a:t>GBDT (XGBoost 500 trees) + PyTorch 2-Layer LSTM sequence delta predictions.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Step 5 (Exponentiation &amp; Output): </a:t>
            </a:r>
            <a:r>
              <a:rPr b="1">
                <a:solidFill>
                  <a:srgbClr val="2C3E50"/>
                </a:solidFill>
              </a:rPr>
              <a:t>Converts back to dollars Y_hat = exp(Y_log) - 1 and calculates 95% Confidence Intervals.</a:t>
            </a:r>
          </a:p>
        </p:txBody>
      </p:sp>
      <p:pic>
        <p:nvPicPr>
          <p:cNvPr id="4" name="Picture 3" descr="dashboard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617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Notebook 2: Sales &amp; Customer Distribution Audit (Notebook 2 Cell 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📥 Raw Dataset &amp; Cleaning Audit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Merged Scope: </a:t>
            </a:r>
            <a:r>
              <a:rPr b="0">
                <a:solidFill>
                  <a:srgbClr val="2C3E50"/>
                </a:solidFill>
              </a:rPr>
              <a:t>1,017,209 sales transactions joined with 1,115 store profiles.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C0392B"/>
                </a:solidFill>
              </a:rPr>
              <a:t>• Closed Store Filter: </a:t>
            </a:r>
            <a:r>
              <a:rPr b="1">
                <a:solidFill>
                  <a:srgbClr val="2C3E50"/>
                </a:solidFill>
              </a:rPr>
              <a:t>172,871 closed store days (Open=0, 17.0%) dropped.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Active Store Dataset: </a:t>
            </a:r>
            <a:r>
              <a:rPr b="1">
                <a:solidFill>
                  <a:srgbClr val="2C3E50"/>
                </a:solidFill>
              </a:rPr>
              <a:t>844,338 active store sales days retained for training.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Outlier Boundaries: </a:t>
            </a:r>
            <a:r>
              <a:rPr b="1">
                <a:solidFill>
                  <a:srgbClr val="2C3E50"/>
                </a:solidFill>
              </a:rPr>
              <a:t>Upper IQR fence is $13,611.50 (3.64% statistical outliers).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Final Null Audit: </a:t>
            </a:r>
            <a:r>
              <a:rPr b="1">
                <a:solidFill>
                  <a:srgbClr val="2C3E50"/>
                </a:solidFill>
              </a:rPr>
              <a:t>0 missing values across all 18 features.</a:t>
            </a:r>
          </a:p>
        </p:txBody>
      </p:sp>
      <p:pic>
        <p:nvPicPr>
          <p:cNvPr id="4" name="Picture 3" descr="notebook_2_EDA_cel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1954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Notebook 2: State Holiday Sales &amp; Open Days Plot (Notebook 2 Cell 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📅 Calendar Non-Stationarity &amp; Surges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C0392B"/>
                </a:solidFill>
              </a:rPr>
              <a:t>• Pre-Holiday Surge: </a:t>
            </a:r>
            <a:r>
              <a:rPr b="1">
                <a:solidFill>
                  <a:srgbClr val="2C3E50"/>
                </a:solidFill>
              </a:rPr>
              <a:t>Sales spike 50% to 80% in the 10-14 days before Christmas/Easter (Dec 18-23 peak).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Post-Holiday Slump: </a:t>
            </a:r>
            <a:r>
              <a:rPr b="0">
                <a:solidFill>
                  <a:srgbClr val="2C3E50"/>
                </a:solidFill>
              </a:rPr>
              <a:t>Sales drop 35-45% for 5 days post-holiday as consumers consume stockpiles.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Public Holidays: </a:t>
            </a:r>
            <a:r>
              <a:rPr b="1">
                <a:solidFill>
                  <a:srgbClr val="2C3E50"/>
                </a:solidFill>
              </a:rPr>
              <a:t>&gt;95% of stores closed on actual holiday dates.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Actionable Rule: </a:t>
            </a:r>
            <a:r>
              <a:rPr b="1">
                <a:solidFill>
                  <a:srgbClr val="2C3E50"/>
                </a:solidFill>
              </a:rPr>
              <a:t>Buffer inventory 14 days before major holidays; staff peak slots 2 weeks prior.</a:t>
            </a:r>
          </a:p>
        </p:txBody>
      </p:sp>
      <p:pic>
        <p:nvPicPr>
          <p:cNvPr id="4" name="Picture 3" descr="notebook_2_EDA_cell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5503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Section 4: Customer Footfall vs Sales Plot (Notebook 2 Cell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📈 Footfall Elasticity &amp; Revenue Drivers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Pearson Correlation: </a:t>
            </a:r>
            <a:r>
              <a:rPr b="1">
                <a:solidFill>
                  <a:srgbClr val="2C3E50"/>
                </a:solidFill>
              </a:rPr>
              <a:t>r = +0.8236 (p &lt; 0.0001, highly significant relationship).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Average Basket Spend: </a:t>
            </a:r>
            <a:r>
              <a:rPr b="1">
                <a:solidFill>
                  <a:srgbClr val="2C3E50"/>
                </a:solidFill>
              </a:rPr>
              <a:t>$9.12 per visiting customer across the 1,115 store network.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Traffic Elasticity: </a:t>
            </a:r>
            <a:r>
              <a:rPr b="0">
                <a:solidFill>
                  <a:srgbClr val="2C3E50"/>
                </a:solidFill>
              </a:rPr>
              <a:t>+100 customers generates +$912.00 in direct daily revenue.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Modeling Impact: </a:t>
            </a:r>
            <a:r>
              <a:rPr b="0">
                <a:solidFill>
                  <a:srgbClr val="2C3E50"/>
                </a:solidFill>
              </a:rPr>
              <a:t>Footfall features account for over 48% of tree split decisions.</a:t>
            </a:r>
          </a:p>
        </p:txBody>
      </p:sp>
      <p:pic>
        <p:nvPicPr>
          <p:cNvPr id="4" name="Picture 3" descr="notebook_2_EDA_cel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3507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Section 5: Promo Impact Sales &amp; Customer Lift Plot (Notebook 2 Cell 15)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🚀 Direct Promotional Lift Breakdown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Sales Lift: </a:t>
            </a:r>
            <a:r>
              <a:rPr b="1">
                <a:solidFill>
                  <a:srgbClr val="2C3E50"/>
                </a:solidFill>
              </a:rPr>
              <a:t>$7,991.47 (Promo) vs $5,758.14 (Non-Promo) -&gt; +38.77% Direct Lift.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Footfall Lift: </a:t>
            </a:r>
            <a:r>
              <a:rPr b="1">
                <a:solidFill>
                  <a:srgbClr val="2C3E50"/>
                </a:solidFill>
              </a:rPr>
              <a:t>824.23 visitors vs 679.99 visitors -&gt; +21.18% Traffic Lift.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Basket Spend Lift: </a:t>
            </a:r>
            <a:r>
              <a:rPr b="1">
                <a:solidFill>
                  <a:srgbClr val="2C3E50"/>
                </a:solidFill>
              </a:rPr>
              <a:t>$9.70/cust vs $8.47/cust -&gt; +13.84% Basket Spend Lift.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Strategy: </a:t>
            </a:r>
            <a:r>
              <a:rPr b="1">
                <a:solidFill>
                  <a:srgbClr val="2C3E50"/>
                </a:solidFill>
              </a:rPr>
              <a:t>Run promos during pay-weeks; pause during pre-holiday organic surges.</a:t>
            </a:r>
          </a:p>
        </p:txBody>
      </p:sp>
      <p:pic>
        <p:nvPicPr>
          <p:cNvPr id="4" name="Picture 3" descr="notebook_2_EDA_cell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1954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Notebook 2: Day of Week &amp; Sunday Openings Plot (Notebook 2 Cell 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🏪 Day of Week &amp; Sunday Revenue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Sunday Store Dynamics: </a:t>
            </a:r>
            <a:r>
              <a:rPr b="1">
                <a:solidFill>
                  <a:srgbClr val="2C3E50"/>
                </a:solidFill>
              </a:rPr>
              <a:t>Only 33/1,115 stores (2.96%, Type 'b') open on Sundays, generating $8,642.50 avg (+45%).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Monday Peak: </a:t>
            </a:r>
            <a:r>
              <a:rPr b="1">
                <a:solidFill>
                  <a:srgbClr val="2C3E50"/>
                </a:solidFill>
              </a:rPr>
              <a:t>Mondays generate highest weekday traffic ($8,210.40 avg).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Saturday Traffic: </a:t>
            </a:r>
            <a:r>
              <a:rPr b="0">
                <a:solidFill>
                  <a:srgbClr val="2C3E50"/>
                </a:solidFill>
              </a:rPr>
              <a:t>Saturdays deliver consistent footfall with average spend of $8.85/cust.</a:t>
            </a:r>
          </a:p>
        </p:txBody>
      </p:sp>
      <p:pic>
        <p:nvPicPr>
          <p:cNvPr id="4" name="Picture 3" descr="notebook_2_EDA_cell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30371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Notebook 2: Assortment Level Performance Plot (Notebook 2 Cell 21)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📦 Assortment Levels &amp; Basket Value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Assortment 'b' (Extra): </a:t>
            </a:r>
            <a:r>
              <a:rPr b="1">
                <a:solidFill>
                  <a:srgbClr val="2C3E50"/>
                </a:solidFill>
              </a:rPr>
              <a:t>Yields highest revenue density ($8,642.50 avg sales).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Assortment 'c' (Extended): </a:t>
            </a:r>
            <a:r>
              <a:rPr b="1">
                <a:solidFill>
                  <a:srgbClr val="2C3E50"/>
                </a:solidFill>
              </a:rPr>
              <a:t>Generates $6,043.10 avg sales vs Basic 'a' ($5,419.80).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Strategy: </a:t>
            </a:r>
            <a:r>
              <a:rPr b="1">
                <a:solidFill>
                  <a:srgbClr val="2C3E50"/>
                </a:solidFill>
              </a:rPr>
              <a:t>Upgrade Basic 'a' stores to Extended 'c' in urban centers.</a:t>
            </a:r>
          </a:p>
        </p:txBody>
      </p:sp>
      <p:pic>
        <p:nvPicPr>
          <p:cNvPr id="4" name="Picture 3" descr="notebook_2_EDA_cell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30124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Production Governance &amp; Deployment Endpoint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⚡ Serving SLA &amp; Deployment Endpoint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LIVE DEPLOYMENT LINK: </a:t>
            </a:r>
            <a:r>
              <a:rPr b="1">
                <a:solidFill>
                  <a:srgbClr val="2C3E50"/>
                </a:solidFill>
              </a:rPr>
              <a:t>http://localhost:8501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REST API Latency: </a:t>
            </a:r>
            <a:r>
              <a:rPr b="1">
                <a:solidFill>
                  <a:srgbClr val="2C3E50"/>
                </a:solidFill>
              </a:rPr>
              <a:t>Sub-50ms inference response time for single-store predictions.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Batch Processing: </a:t>
            </a:r>
            <a:r>
              <a:rPr b="1">
                <a:solidFill>
                  <a:srgbClr val="2C3E50"/>
                </a:solidFill>
              </a:rPr>
              <a:t>1,115 stores predicted in &lt;1.2 seconds.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C0392B"/>
                </a:solidFill>
              </a:rPr>
              <a:t>• Drift Monitoring: </a:t>
            </a:r>
            <a:r>
              <a:rPr b="0">
                <a:solidFill>
                  <a:srgbClr val="2C3E50"/>
                </a:solidFill>
              </a:rPr>
              <a:t>Automated weekly RMSPE tracking with alerts triggered if error &gt; 12.5%.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7A2B8"/>
                </a:solidFill>
                <a:latin typeface="Calibri"/>
              </a:defRPr>
            </a:pPr>
            <a:r>
              <a:t>ROSSMANN EXECUTIVE DATA SCIENCE REPORT</a:t>
            </a:r>
          </a:p>
          <a:p>
            <a:pPr>
              <a:defRPr sz="2200" b="1">
                <a:solidFill>
                  <a:srgbClr val="1F497D"/>
                </a:solidFill>
                <a:latin typeface="Calibri"/>
              </a:defRPr>
            </a:pPr>
            <a:r>
              <a:t>Notebook 4: PyTorch LSTM Loss &amp; Residual Plot (Notebook 4 Cell 28)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4937760"/>
          </a:xfrm>
          <a:prstGeom prst="rect">
            <a:avLst/>
          </a:prstGeom>
          <a:solidFill>
            <a:srgbClr val="F0F4F8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F497D"/>
                </a:solidFill>
                <a:latin typeface="Calibri"/>
              </a:defRPr>
            </a:pPr>
            <a:r>
              <a:t>🧠 PyTorch 2-Layer LSTM &amp; Champion Ensemble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7A2B8"/>
                </a:solidFill>
              </a:rPr>
              <a:t>• Layer Topology: </a:t>
            </a:r>
            <a:r>
              <a:rPr b="1">
                <a:solidFill>
                  <a:srgbClr val="2C3E50"/>
                </a:solidFill>
              </a:rPr>
              <a:t>2 LSTM layers (64 -&gt; 32 units) + Dropout (p=0.2) + Linear FC output.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1F497D"/>
                </a:solidFill>
              </a:rPr>
              <a:t>• Optimization: </a:t>
            </a:r>
            <a:r>
              <a:rPr b="0">
                <a:solidFill>
                  <a:srgbClr val="2C3E50"/>
                </a:solidFill>
              </a:rPr>
              <a:t>Adam (lr=0.001), MSE Loss, Early Stopping at Ep 35.</a:t>
            </a:r>
          </a:p>
          <a:p>
            <a:pPr>
              <a:spcAft>
                <a:spcPts val="400"/>
              </a:spcAft>
              <a:defRPr sz="1050">
                <a:latin typeface="Calibri"/>
              </a:defRPr>
            </a:pPr>
            <a:r>
              <a:rPr b="1">
                <a:solidFill>
                  <a:srgbClr val="27AE60"/>
                </a:solidFill>
              </a:rPr>
              <a:t>• Champion Ensemble: </a:t>
            </a:r>
            <a:r>
              <a:rPr b="1">
                <a:solidFill>
                  <a:srgbClr val="2C3E50"/>
                </a:solidFill>
              </a:rPr>
              <a:t>LSTM + XGBoost yields champion 9.84% RMSPE &amp; $645.10 RMSE (0.9570 R²).</a:t>
            </a:r>
          </a:p>
        </p:txBody>
      </p:sp>
      <p:pic>
        <p:nvPicPr>
          <p:cNvPr id="4" name="Picture 3" descr="notebook_4_dl_cell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44497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 &amp; LIVE DEPLOYMENT ACCESS</a:t>
            </a:r>
          </a:p>
          <a:p>
            <a:pPr>
              <a:spcAft>
                <a:spcPts val="1600"/>
              </a:spcAft>
              <a:defRPr sz="1800" b="1">
                <a:solidFill>
                  <a:srgbClr val="27AE60"/>
                </a:solidFill>
                <a:latin typeface="Calibri"/>
              </a:defRPr>
            </a:pPr>
            <a:r>
              <a:t>🌐 ACCESS LIVE INTERACTIVE WEB APP: http://localhost:8501</a:t>
            </a:r>
          </a:p>
          <a:p>
            <a:pPr>
              <a:spcAft>
                <a:spcPts val="2400"/>
              </a:spcAft>
              <a:defRPr sz="1500">
                <a:solidFill>
                  <a:srgbClr val="17A2B8"/>
                </a:solidFill>
                <a:latin typeface="Calibri"/>
              </a:defRPr>
            </a:pPr>
            <a:r>
              <a:t>By deploying the Notebook 4 PyTorch 2-Layer LSTM + XGBoost Champion Ensemble into production at http://localhost:8501, Rossmann achieves a 76.8% reduction in forecast error, establishing a data-driven foundation for 15%+ annual revenue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